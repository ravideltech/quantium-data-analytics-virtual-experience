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4780" r:id="rId4"/>
    <p:sldId id="4781" r:id="rId6"/>
    <p:sldId id="4785" r:id="rId10"/>
    <p:sldId id="275" r:id="rId12"/>
    <p:sldId id="4787" r:id="rId30"/>
    <p:sldId id="4788" r:id="rId31"/>
  </p:sldIdLst>
  <p:sldSz cx="12192000" cy="6858000"/>
  <p:notesSz cx="6858000" cy="9144000"/>
  <p:embeddedFontLst>
    <p:embeddedFont>
      <p:font typeface="Calibri" panose="020F0502020204030204" pitchFamily="34" charset="0"/>
      <p:regular r:id="rId14"/>
      <p:bold r:id="rId15"/>
      <p:italic r:id="rId16"/>
      <p:boldItalic r:id="rId17"/>
    </p:embeddedFont>
    <p:embeddedFont>
      <p:font typeface="Roboto" panose="02000000000000000000" pitchFamily="2" charset="0"/>
      <p:regular r:id="rId18"/>
      <p:bold r:id="rId19"/>
      <p:italic r:id="rId20"/>
      <p:boldItalic r:id="rId21"/>
    </p:embeddedFont>
    <p:embeddedFont>
      <p:font typeface="Roboto Light" panose="02000000000000000000" pitchFamily="2" charset="0"/>
      <p:regular r:id="rId22"/>
      <p:italic r:id="rId23"/>
    </p:embeddedFont>
    <p:embeddedFont>
      <p:font typeface="Roboto Medium" panose="02000000000000000000" pitchFamily="2" charset="0"/>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71" d="100"/>
          <a:sy n="71" d="100"/>
        </p:scale>
        <p:origin x="1354" y="53"/>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21" Type="http://schemas.openxmlformats.org/officeDocument/2006/relationships/font" Target="fonts/font8.fntdata"/><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4" Type="http://schemas.openxmlformats.org/officeDocument/2006/relationships/font" Target="fonts/font11.fntdata"/><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 Id="rId30" Type="http://schemas.openxmlformats.org/officeDocument/2006/relationships/slide" Target="slides/slide12.xml"/><Relationship Id="rId31" Type="http://schemas.openxmlformats.org/officeDocument/2006/relationships/slide" Target="slides/slide13.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11/06/2020</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 xml:space="preserve">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 xml:space="preserve">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 xml:space="preserve">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 xml:space="preserve">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 xml:space="preserve">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 xml:space="preserve">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 xml:space="preserve">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 xml:space="preserve">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 xml:space="preserve">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xml:space="preserve">). The information contained in this </a:t>
            </a:r>
            <a:r>
              <a:rPr lang="en-US" sz="1000" dirty="0">
                <a:solidFill>
                  <a:srgbClr val="736D67"/>
                </a:solidFill>
                <a:latin typeface="Roboto Light" panose="02000000000000000000" pitchFamily="2" charset="0"/>
                <a:ea typeface="Roboto Light" panose="02000000000000000000" pitchFamily="2" charset="0"/>
              </a:rPr>
              <a:t xml:space="preserve">document </a:t>
            </a:r>
            <a:r>
              <a:rPr lang="en-US" sz="1000" b="0" dirty="0">
                <a:solidFill>
                  <a:srgbClr val="736D67"/>
                </a:solidFill>
                <a:latin typeface="Roboto Light" panose="02000000000000000000" pitchFamily="2" charset="0"/>
                <a:ea typeface="Roboto Light" panose="02000000000000000000" pitchFamily="2" charset="0"/>
              </a:rPr>
              <a:t xml:space="preserve">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 xml:space="preserve">document. </a:t>
            </a:r>
            <a:r>
              <a:rPr lang="en-US" sz="1000" b="0" dirty="0">
                <a:solidFill>
                  <a:srgbClr val="736D67"/>
                </a:solidFill>
                <a:latin typeface="Roboto Light" panose="02000000000000000000" pitchFamily="2" charset="0"/>
                <a:ea typeface="Roboto Light" panose="02000000000000000000" pitchFamily="2" charset="0"/>
              </a:rPr>
              <a:t xml:space="preserve">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 xml:space="preserve">document. </a:t>
            </a:r>
            <a:r>
              <a:rPr lang="en-US" sz="1000" b="0" dirty="0">
                <a:solidFill>
                  <a:srgbClr val="736D67"/>
                </a:solidFill>
                <a:latin typeface="Roboto Light" panose="02000000000000000000" pitchFamily="2" charset="0"/>
                <a:ea typeface="Roboto Light" panose="02000000000000000000" pitchFamily="2" charset="0"/>
              </a:rPr>
              <a:t xml:space="preserve">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 xml:space="preserve">document. </a:t>
            </a:r>
            <a:r>
              <a:rPr lang="en-US" sz="1000" b="0" dirty="0">
                <a:solidFill>
                  <a:srgbClr val="736D67"/>
                </a:solidFill>
                <a:latin typeface="Roboto Light" panose="02000000000000000000" pitchFamily="2" charset="0"/>
                <a:ea typeface="Roboto Light" panose="02000000000000000000" pitchFamily="2" charset="0"/>
              </a:rPr>
              <a:t xml:space="preserve">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 xml:space="preserve">document, </a:t>
            </a:r>
            <a:r>
              <a:rPr lang="en-US" sz="1000" b="0" dirty="0">
                <a:solidFill>
                  <a:srgbClr val="736D67"/>
                </a:solidFill>
                <a:latin typeface="Roboto Light" panose="02000000000000000000" pitchFamily="2" charset="0"/>
                <a:ea typeface="Roboto Light" panose="02000000000000000000" pitchFamily="2" charset="0"/>
              </a:rPr>
              <a:t xml:space="preserve">nor the analysis on which it is based. This </a:t>
            </a:r>
            <a:r>
              <a:rPr lang="en-US" sz="1000" dirty="0">
                <a:solidFill>
                  <a:srgbClr val="736D67"/>
                </a:solidFill>
                <a:latin typeface="Roboto Light" panose="02000000000000000000" pitchFamily="2" charset="0"/>
                <a:ea typeface="Roboto Light" panose="02000000000000000000" pitchFamily="2" charset="0"/>
              </a:rPr>
              <a:t xml:space="preserve">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2.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Quantium Retail Analytics</a:t>
            </a:r>
          </a:p>
          <a:p>
            <a:endParaRPr lang="en-AU" dirty="0"/>
          </a:p>
        </p:txBody>
      </p:sp>
      <p:sp>
        <p:nvSpPr>
          <p:cNvPr id="4" name="Text Placeholder 3">
            <a:extLst>
              <a:ext uri="{FF2B5EF4-FFF2-40B4-BE49-F238E27FC236}">
                <a16:creationId xmlns:a16="http://schemas.microsoft.com/office/drawing/2014/main" id="{C2EEE1EB-5529-4FA4-98E8-7A820B9EBBCB}"/>
              </a:ext>
            </a:extLst>
          </p:cNvPr>
          <p:cNvSpPr>
            <a:spLocks noGrp="1"/>
          </p:cNvSpPr>
          <p:nvPr>
            <p:ph type="body" sz="quarter" idx="10"/>
          </p:nvPr>
        </p:nvSpPr>
        <p:spPr/>
        <p:txBody>
          <a:bodyPr/>
          <a:lstStyle/>
          <a:p>
            <a:r>
              <a:rPr lang="en-AU" dirty="0"/>
              <a:t>June 2026</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Prepared by:</a:t>
              </a:r>
              <a:r>
                <a:rPr lang="en-AU" sz="1000" dirty="0">
                  <a:solidFill>
                    <a:srgbClr val="000005"/>
                  </a:solidFill>
                  <a:latin typeface="Roboto Light" panose="02000000000000000000" pitchFamily="2" charset="0"/>
                  <a:ea typeface="Roboto Light" panose="02000000000000000000" pitchFamily="2" charset="0"/>
                </a:rPr>
                <a:t>Ravi Kumar</a:t>
              </a:r>
              <a:r>
                <a:rPr lang="en-AU" sz="1000" dirty="0">
                  <a:solidFill>
                    <a:srgbClr val="000005"/>
                  </a:solidFill>
                  <a:latin typeface="Roboto Medium" panose="02000000000000000000" pitchFamily="2" charset="0"/>
                  <a:ea typeface="Roboto Light" panose="02000000000000000000" pitchFamily="2" charset="0"/>
                </a:rPr>
                <a:t xml:space="preserve">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xml:space="preserve">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xml:space="preserve">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 Customer Analytics</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 Store Trial Analysis</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pPr algn="l"/>
            <a:r>
              <a:rPr lang="en-AU" sz="1200" dirty="0">
                <a:latin typeface="Roboto Light" panose="02000000000000000000" pitchFamily="2" charset="0"/>
                <a:ea typeface="Roboto Light" panose="02000000000000000000" pitchFamily="2" charset="0"/>
              </a:rPr>
              <a:t>Older Singles/Couples and Mainstream customers drive chip sales; Kettle leads brands; 175g pack dominates.</a:t>
            </a: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AU" sz="1200" dirty="0">
                <a:latin typeface="Roboto Light" panose="02000000000000000000" pitchFamily="2" charset="0"/>
                <a:ea typeface="Roboto Light" panose="02000000000000000000" pitchFamily="2" charset="0"/>
              </a:rPr>
              <a:t>Stores 86 and 88 showed statistically significant sales uplift vs. control; Store 77 showed no significant change.</a:t>
            </a:r>
          </a:p>
        </p:txBody>
      </p:sp>
      <p:sp>
        <p:nvSpPr>
          <p:cNvPr id="20" name="SumBox1"/>
          <p:cNvSpPr>
            <a:spLocks noGrp="1"/>
          </p:cNvSpPr>
          <p:nvPr/>
        </p:nvSpPr>
        <p:spPr>
          <a:xfrm>
            <a:off x="1196975" y="5950000"/>
            <a:ext cx="3000000" cy="650000"/>
          </a:xfrm>
          <a:prstGeom prst="rect">
            <a:avLst/>
          </a:prstGeom>
          <a:solidFill>
            <a:srgbClr val="ECE8E4"/>
          </a:solidFill>
          <a:ln>
            <a:noFill/>
          </a:ln>
        </p:spPr>
        <p:txBody>
          <a:bodyPr insFonT="1" marL="91440" marR="91440" marT="45720" marB="45720"/>
          <a:lstStyle/>
          <a:p>
            <a:r>
              <a:rPr lang="en-AU" sz="1000" b="1" dirty="0">
                <a:solidFill>
                  <a:srgbClr val="EF9B47"/>
                </a:solidFill>
                <a:latin typeface="Roboto Medium"/>
              </a:rPr>
              <a:t>Commercial Impact</a:t>
            </a:r>
          </a:p>
          <a:p>
            <a:r>
              <a:rPr lang="en-AU" sz="1000" dirty="0">
                <a:solidFill>
                  <a:srgbClr val="000005"/>
                </a:solidFill>
                <a:latin typeface="Roboto Light"/>
              </a:rPr>
              <a:t>Strategy execution in high-performing trial stores has measurable revenue upside for Julia's category.</a:t>
            </a:r>
          </a:p>
        </p:txBody>
      </p:sp>
      <p:sp>
        <p:nvSpPr>
          <p:cNvPr id="21" name="SumBox2"/>
          <p:cNvSpPr>
            <a:spLocks noGrp="1"/>
          </p:cNvSpPr>
          <p:nvPr/>
        </p:nvSpPr>
        <p:spPr>
          <a:xfrm>
            <a:off x="4396975" y="5950000"/>
            <a:ext cx="3000000" cy="650000"/>
          </a:xfrm>
          <a:prstGeom prst="rect">
            <a:avLst/>
          </a:prstGeom>
          <a:solidFill>
            <a:srgbClr val="ECE8E4"/>
          </a:solidFill>
          <a:ln>
            <a:noFill/>
          </a:ln>
        </p:spPr>
        <p:txBody>
          <a:bodyPr insFonT="1" marL="91440" marR="91440" marT="45720" marB="45720"/>
          <a:lstStyle/>
          <a:p>
            <a:r>
              <a:rPr lang="en-AU" sz="1000" b="1" dirty="0">
                <a:solidFill>
                  <a:srgbClr val="44B5C4"/>
                </a:solidFill>
                <a:latin typeface="Roboto Medium"/>
              </a:rPr>
              <a:t>Key Recommendation</a:t>
            </a:r>
          </a:p>
          <a:p>
            <a:r>
              <a:rPr lang="en-AU" sz="1000" dirty="0">
                <a:solidFill>
                  <a:srgbClr val="000005"/>
                </a:solidFill>
                <a:latin typeface="Roboto Light"/>
              </a:rPr>
              <a:t>Expand Store 86 and 88 strategies; target Mainstream Older Singles/Couples with Kettle promotions.</a:t>
            </a:r>
          </a:p>
        </p:txBody>
      </p:sp>
      <p:sp>
        <p:nvSpPr>
          <p:cNvPr id="22" name="SumBox3"/>
          <p:cNvSpPr>
            <a:spLocks noGrp="1"/>
          </p:cNvSpPr>
          <p:nvPr/>
        </p:nvSpPr>
        <p:spPr>
          <a:xfrm>
            <a:off x="7596975" y="5950000"/>
            <a:ext cx="3200000" cy="650000"/>
          </a:xfrm>
          <a:prstGeom prst="rect">
            <a:avLst/>
          </a:prstGeom>
          <a:solidFill>
            <a:srgbClr val="ECE8E4"/>
          </a:solidFill>
          <a:ln>
            <a:noFill/>
          </a:ln>
        </p:spPr>
        <p:txBody>
          <a:bodyPr insFonT="1" marL="91440" marR="91440" marT="45720" marB="45720"/>
          <a:lstStyle/>
          <a:p>
            <a:r>
              <a:rPr lang="en-AU" sz="1000" b="1" dirty="0">
                <a:solidFill>
                  <a:srgbClr val="44D6A3"/>
                </a:solidFill>
                <a:latin typeface="Roboto Medium"/>
              </a:rPr>
              <a:t>Next Steps</a:t>
            </a:r>
          </a:p>
          <a:p>
            <a:r>
              <a:rPr lang="en-AU" sz="1000" dirty="0">
                <a:solidFill>
                  <a:srgbClr val="000005"/>
                </a:solidFill>
                <a:latin typeface="Roboto Light"/>
              </a:rPr>
              <a:t>6-month roadmap with targeted promotions, inventory optimisation, and trial store expansion plan.</a:t>
            </a: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Task 1: Customer Analytics — Who is Buying Chips and Why?</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50" name="CardHdr0"/>
          <p:cNvSpPr>
            <a:spLocks noGrp="1"/>
          </p:cNvSpPr>
          <p:nvPr/>
        </p:nvSpPr>
        <p:spPr>
          <a:xfrm>
            <a:off x="496000" y="1400000"/>
            <a:ext cx="3600000" cy="180000"/>
          </a:xfrm>
          <a:prstGeom prst="rect">
            <a:avLst/>
          </a:prstGeom>
          <a:solidFill>
            <a:srgbClr val="3F68AD"/>
          </a:solidFill>
          <a:ln>
            <a:noFill/>
          </a:ln>
        </p:spPr>
        <p:txBody>
          <a:bodyPr marL="91440" marR="91440" marT="30000" marB="30000"/>
          <a:lstStyle/>
          <a:p>
            <a:r>
              <a:rPr lang="en-AU" sz="1100" b="1" dirty="0">
                <a:solidFill>
                  <a:srgbClr val="FFFFFF"/>
                </a:solidFill>
                <a:latin typeface="Roboto Medium"/>
              </a:rPr>
              <a:t>Life Stage &amp; Segment</a:t>
            </a:r>
          </a:p>
        </p:txBody>
      </p:sp>
      <p:sp>
        <p:nvSpPr>
          <p:cNvPr id="51" name="CardBody0"/>
          <p:cNvSpPr>
            <a:spLocks noGrp="1"/>
          </p:cNvSpPr>
          <p:nvPr/>
        </p:nvSpPr>
        <p:spPr>
          <a:xfrm>
            <a:off x="496000" y="1580000"/>
            <a:ext cx="3600000" cy="4620000"/>
          </a:xfrm>
          <a:prstGeom prst="rect">
            <a:avLst/>
          </a:prstGeom>
          <a:solidFill>
            <a:srgbClr val="ECE8E4"/>
          </a:solidFill>
          <a:ln>
            <a:noFill/>
          </a:ln>
        </p:spPr>
        <p:txBody>
          <a:bodyPr marL="114300" marR="114300" marT="114300" marB="114300"/>
          <a:lstStyle/>
          <a:p>
            <a:pPr marL="228600" indent="-228600">
              <a:buChar char="•"/>
            </a:pPr>
            <a:r>
              <a:rPr lang="en-AU" sz="1050" dirty="0">
                <a:solidFill>
                  <a:srgbClr val="000005"/>
                </a:solidFill>
                <a:latin typeface="Roboto Light"/>
              </a:rPr>
              <a:t>Older Singles/Couples generate the highest chip sales volume.</a:t>
            </a:r>
          </a:p>
          <a:p>
            <a:pPr marL="228600" indent="-228600">
              <a:buChar char="•"/>
            </a:pPr>
            <a:r>
              <a:rPr lang="en-AU" sz="1050" dirty="0">
                <a:solidFill>
                  <a:srgbClr val="000005"/>
                </a:solidFill>
                <a:latin typeface="Roboto Light"/>
              </a:rPr>
              <a:t>Mainstream customers account for the largest revenue share.</a:t>
            </a:r>
          </a:p>
          <a:p>
            <a:pPr marL="228600" indent="-228600">
              <a:buChar char="•"/>
            </a:pPr>
            <a:r>
              <a:rPr lang="en-AU" sz="1050" dirty="0">
                <a:solidFill>
                  <a:srgbClr val="000005"/>
                </a:solidFill>
                <a:latin typeface="Roboto Light"/>
              </a:rPr>
              <a:t>Young Singles/Couples are an emerging growth segment.</a:t>
            </a:r>
          </a:p>
          <a:p>
            <a:pPr marL="228600" indent="-228600">
              <a:buChar char="•"/>
            </a:pPr>
            <a:r>
              <a:rPr lang="en-AU" sz="1050" dirty="0">
                <a:solidFill>
                  <a:srgbClr val="000005"/>
                </a:solidFill>
                <a:latin typeface="Roboto Light"/>
              </a:rPr>
              <a:t>Premium and Budget customers show distinct brand preferences.</a:t>
            </a:r>
          </a:p>
          <a:p>
            <a:pPr>
              <a:buNone/>
            </a:pPr>
            <a:r>
              <a:rPr lang="en-AU" sz="900" i="1" dirty="0">
                <a:solidFill>
                  <a:srgbClr val="736E68"/>
                </a:solidFill>
                <a:latin typeface="Roboto Light"/>
              </a:rPr>
              <a:t>📊 Insert: Sales by Life Stage | Sales by Segment</a:t>
            </a:r>
          </a:p>
        </p:txBody>
      </p:sp>
      <p:sp>
        <p:nvSpPr>
          <p:cNvPr id="60" name="CardHdr1"/>
          <p:cNvSpPr>
            <a:spLocks noGrp="1"/>
          </p:cNvSpPr>
          <p:nvPr/>
        </p:nvSpPr>
        <p:spPr>
          <a:xfrm>
            <a:off x="4296000" y="1400000"/>
            <a:ext cx="3600000" cy="180000"/>
          </a:xfrm>
          <a:prstGeom prst="rect">
            <a:avLst/>
          </a:prstGeom>
          <a:solidFill>
            <a:srgbClr val="44B5C4"/>
          </a:solidFill>
          <a:ln>
            <a:noFill/>
          </a:ln>
        </p:spPr>
        <p:txBody>
          <a:bodyPr marL="91440" marR="91440" marT="30000" marB="30000"/>
          <a:lstStyle/>
          <a:p>
            <a:r>
              <a:rPr lang="en-AU" sz="1100" b="1" dirty="0">
                <a:solidFill>
                  <a:srgbClr val="FFFFFF"/>
                </a:solidFill>
                <a:latin typeface="Roboto Medium"/>
              </a:rPr>
              <a:t>Brand Performance</a:t>
            </a:r>
          </a:p>
        </p:txBody>
      </p:sp>
      <p:sp>
        <p:nvSpPr>
          <p:cNvPr id="61" name="CardBody1"/>
          <p:cNvSpPr>
            <a:spLocks noGrp="1"/>
          </p:cNvSpPr>
          <p:nvPr/>
        </p:nvSpPr>
        <p:spPr>
          <a:xfrm>
            <a:off x="4296000" y="1580000"/>
            <a:ext cx="3600000" cy="4620000"/>
          </a:xfrm>
          <a:prstGeom prst="rect">
            <a:avLst/>
          </a:prstGeom>
          <a:solidFill>
            <a:srgbClr val="ECE8E4"/>
          </a:solidFill>
          <a:ln>
            <a:noFill/>
          </a:ln>
        </p:spPr>
        <p:txBody>
          <a:bodyPr marL="114300" marR="114300" marT="114300" marB="114300"/>
          <a:lstStyle/>
          <a:p>
            <a:pPr marL="228600" indent="-228600">
              <a:buChar char="•"/>
            </a:pPr>
            <a:r>
              <a:rPr lang="en-AU" sz="1050" dirty="0">
                <a:solidFill>
                  <a:srgbClr val="000005"/>
                </a:solidFill>
                <a:latin typeface="Roboto Light"/>
              </a:rPr>
              <a:t>Kettle is the #1 brand by sales value — strong premium positioning.</a:t>
            </a:r>
          </a:p>
          <a:p>
            <a:pPr marL="228600" indent="-228600">
              <a:buChar char="•"/>
            </a:pPr>
            <a:r>
              <a:rPr lang="en-AU" sz="1050" dirty="0">
                <a:solidFill>
                  <a:srgbClr val="000005"/>
                </a:solidFill>
                <a:latin typeface="Roboto Light"/>
              </a:rPr>
              <a:t>Smiths and Doritos rank second and third respectively.</a:t>
            </a:r>
          </a:p>
          <a:p>
            <a:pPr marL="228600" indent="-228600">
              <a:buChar char="•"/>
            </a:pPr>
            <a:r>
              <a:rPr lang="en-AU" sz="1050" dirty="0">
                <a:solidFill>
                  <a:srgbClr val="000005"/>
                </a:solidFill>
                <a:latin typeface="Roboto Light"/>
              </a:rPr>
              <a:t>Private label brands underperform vs. national brands.</a:t>
            </a:r>
          </a:p>
          <a:p>
            <a:pPr marL="228600" indent="-228600">
              <a:buChar char="•"/>
            </a:pPr>
            <a:r>
              <a:rPr lang="en-AU" sz="1050" dirty="0">
                <a:solidFill>
                  <a:srgbClr val="000005"/>
                </a:solidFill>
                <a:latin typeface="Roboto Light"/>
              </a:rPr>
              <a:t>Kettle over-indexes with Mainstream and Premium customers.</a:t>
            </a:r>
          </a:p>
          <a:p>
            <a:pPr>
              <a:buNone/>
            </a:pPr>
            <a:r>
              <a:rPr lang="en-AU" sz="900" i="1" dirty="0">
                <a:solidFill>
                  <a:srgbClr val="736E68"/>
                </a:solidFill>
                <a:latin typeface="Roboto Light"/>
              </a:rPr>
              <a:t>📊 Insert: Top Brands by Sales Chart</a:t>
            </a:r>
          </a:p>
        </p:txBody>
      </p:sp>
      <p:sp>
        <p:nvSpPr>
          <p:cNvPr id="70" name="CardHdr2"/>
          <p:cNvSpPr>
            <a:spLocks noGrp="1"/>
          </p:cNvSpPr>
          <p:nvPr/>
        </p:nvSpPr>
        <p:spPr>
          <a:xfrm>
            <a:off x="8096000" y="1400000"/>
            <a:ext cx="3600000" cy="180000"/>
          </a:xfrm>
          <a:prstGeom prst="rect">
            <a:avLst/>
          </a:prstGeom>
          <a:solidFill>
            <a:srgbClr val="EF9B47"/>
          </a:solidFill>
          <a:ln>
            <a:noFill/>
          </a:ln>
        </p:spPr>
        <p:txBody>
          <a:bodyPr marL="91440" marR="91440" marT="30000" marB="30000"/>
          <a:lstStyle/>
          <a:p>
            <a:r>
              <a:rPr lang="en-AU" sz="1100" b="1" dirty="0">
                <a:solidFill>
                  <a:srgbClr val="FFFFFF"/>
                </a:solidFill>
                <a:latin typeface="Roboto Medium"/>
              </a:rPr>
              <a:t>Pack Size Insights</a:t>
            </a:r>
          </a:p>
        </p:txBody>
      </p:sp>
      <p:sp>
        <p:nvSpPr>
          <p:cNvPr id="71" name="CardBody2"/>
          <p:cNvSpPr>
            <a:spLocks noGrp="1"/>
          </p:cNvSpPr>
          <p:nvPr/>
        </p:nvSpPr>
        <p:spPr>
          <a:xfrm>
            <a:off x="8096000" y="1580000"/>
            <a:ext cx="3600000" cy="4620000"/>
          </a:xfrm>
          <a:prstGeom prst="rect">
            <a:avLst/>
          </a:prstGeom>
          <a:solidFill>
            <a:srgbClr val="ECE8E4"/>
          </a:solidFill>
          <a:ln>
            <a:noFill/>
          </a:ln>
        </p:spPr>
        <p:txBody>
          <a:bodyPr marL="114300" marR="114300" marT="114300" marB="114300"/>
          <a:lstStyle/>
          <a:p>
            <a:pPr marL="228600" indent="-228600">
              <a:buChar char="•"/>
            </a:pPr>
            <a:r>
              <a:rPr lang="en-AU" sz="1050" dirty="0">
                <a:solidFill>
                  <a:srgbClr val="000005"/>
                </a:solidFill>
                <a:latin typeface="Roboto Light"/>
              </a:rPr>
              <a:t>175g is the highest-selling pack size across all segments.</a:t>
            </a:r>
          </a:p>
          <a:p>
            <a:pPr marL="228600" indent="-228600">
              <a:buChar char="•"/>
            </a:pPr>
            <a:r>
              <a:rPr lang="en-AU" sz="1050" dirty="0">
                <a:solidFill>
                  <a:srgbClr val="000005"/>
                </a:solidFill>
                <a:latin typeface="Roboto Light"/>
              </a:rPr>
              <a:t>150g is the second-most popular — bulk and sharing packs lead.</a:t>
            </a:r>
          </a:p>
          <a:p>
            <a:pPr marL="228600" indent="-228600">
              <a:buChar char="•"/>
            </a:pPr>
            <a:r>
              <a:rPr lang="en-AU" sz="1050" dirty="0">
                <a:solidFill>
                  <a:srgbClr val="000005"/>
                </a:solidFill>
                <a:latin typeface="Roboto Light"/>
              </a:rPr>
              <a:t>Smaller packs (40g–70g) drive impulse trial but low revenue.</a:t>
            </a:r>
          </a:p>
          <a:p>
            <a:pPr marL="228600" indent="-228600">
              <a:buChar char="•"/>
            </a:pPr>
            <a:r>
              <a:rPr lang="en-AU" sz="1050" dirty="0">
                <a:solidFill>
                  <a:srgbClr val="000005"/>
                </a:solidFill>
                <a:latin typeface="Roboto Light"/>
              </a:rPr>
              <a:t>Optimise shelf space allocation toward 175g and 150g formats.</a:t>
            </a:r>
          </a:p>
          <a:p>
            <a:pPr>
              <a:buNone/>
            </a:pPr>
            <a:r>
              <a:rPr lang="en-AU" sz="900" i="1" dirty="0">
                <a:solidFill>
                  <a:srgbClr val="736E68"/>
                </a:solidFill>
                <a:latin typeface="Roboto Light"/>
              </a:rPr>
              <a:t>📊 Insert: Pack Size Sales Distribution Chart</a:t>
            </a: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Task 2: Store Trial Analysis — Measuring the Impact of the New Layout</a:t>
            </a:r>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
        <p:nvSpPr>
          <p:cNvPr id="60" name="StoreHdr77"/>
          <p:cNvSpPr>
            <a:spLocks noGrp="1"/>
          </p:cNvSpPr>
          <p:nvPr/>
        </p:nvSpPr>
        <p:spPr>
          <a:xfrm>
            <a:off x="547000" y="1300000"/>
            <a:ext cx="3500000" cy="250000"/>
          </a:xfrm>
          <a:prstGeom prst="rect">
            <a:avLst/>
          </a:prstGeom>
          <a:solidFill>
            <a:srgbClr val="4A4A4E"/>
          </a:solidFill>
          <a:ln>
            <a:noFill/>
          </a:ln>
        </p:spPr>
        <p:txBody>
          <a:bodyPr marL="91440" marR="91440" marT="45720" marB="45720"/>
          <a:lstStyle/>
          <a:p>
            <a:r>
              <a:rPr lang="en-AU" sz="1400" b="1" dirty="0">
                <a:solidFill>
                  <a:srgbClr val="FFFFFF"/>
                </a:solidFill>
                <a:latin typeface="Roboto Medium"/>
              </a:rPr>
              <a:t>Trial Store 77</a:t>
            </a:r>
          </a:p>
        </p:txBody>
      </p:sp>
      <p:sp>
        <p:nvSpPr>
          <p:cNvPr id="61" name="StoreBody77"/>
          <p:cNvSpPr>
            <a:spLocks noGrp="1"/>
          </p:cNvSpPr>
          <p:nvPr/>
        </p:nvSpPr>
        <p:spPr>
          <a:xfrm>
            <a:off x="547000" y="1550000"/>
            <a:ext cx="3500000" cy="4600000"/>
          </a:xfrm>
          <a:prstGeom prst="rect">
            <a:avLst/>
          </a:prstGeom>
          <a:solidFill>
            <a:srgbClr val="ECE8E4"/>
          </a:solidFill>
          <a:ln>
            <a:noFill/>
          </a:ln>
        </p:spPr>
        <p:txBody>
          <a:bodyPr marL="114300" marR="114300" marT="114300" marB="114300"/>
          <a:lstStyle/>
          <a:p>
            <a:pPr>
              <a:buNone/>
            </a:pPr>
            <a:r>
              <a:rPr lang="en-AU" sz="1000" dirty="0">
                <a:solidFill>
                  <a:srgbClr val="4A4A4E"/>
                </a:solidFill>
                <a:latin typeface="Roboto Light"/>
              </a:rPr>
              <a:t>Control Store: 41</a:t>
            </a:r>
          </a:p>
          <a:p>
            <a:pPr>
              <a:buNone/>
            </a:pPr>
            <a:r>
              <a:rPr lang="en-AU" sz="1000" dirty="0">
                <a:solidFill>
                  <a:srgbClr val="4A4A4E"/>
                </a:solidFill>
                <a:latin typeface="Roboto Light"/>
              </a:rPr>
              <a:t>p-value: 0.1031</a:t>
            </a:r>
          </a:p>
          <a:p>
            <a:pPr>
              <a:buNone/>
              <a:spcBef>
                <a:spcPts val="300"/>
              </a:spcBef>
            </a:pPr>
            <a:r>
              <a:rPr lang="en-AU" sz="1200" b="1" dirty="0">
                <a:solidFill>
                  <a:srgbClr val="C96377"/>
                </a:solidFill>
                <a:latin typeface="Roboto Medium"/>
              </a:rPr>
              <a:t>Not Significant</a:t>
            </a:r>
          </a:p>
          <a:p>
            <a:pPr>
              <a:buNone/>
              <a:spcBef>
                <a:spcPts val="300"/>
              </a:spcBef>
            </a:pPr>
            <a:r>
              <a:rPr lang="en-AU" sz="950" dirty="0">
                <a:solidFill>
                  <a:srgbClr val="000005"/>
                </a:solidFill>
                <a:latin typeface="Roboto Light"/>
              </a:rPr>
              <a:t>No statistically significant sales uplift vs. control. Strategy should be reviewed before wider rollout.</a:t>
            </a:r>
          </a:p>
          <a:p>
            <a:pPr>
              <a:buNone/>
              <a:spcBef>
                <a:spcPts val="500"/>
              </a:spcBef>
            </a:pPr>
            <a:r>
              <a:rPr lang="en-AU" sz="900" b="1" dirty="0">
                <a:solidFill>
                  <a:srgbClr val="3F68AD"/>
                </a:solidFill>
                <a:latin typeface="Roboto Medium"/>
              </a:rPr>
              <a:t>Recommendation:</a:t>
            </a:r>
          </a:p>
          <a:p>
            <a:pPr>
              <a:buNone/>
            </a:pPr>
            <a:r>
              <a:rPr lang="en-AU" sz="900" dirty="0">
                <a:solidFill>
                  <a:srgbClr val="000005"/>
                </a:solidFill>
                <a:latin typeface="Roboto Light"/>
              </a:rPr>
              <a:t>Continue monitoring. Investigate root causes of underperformance.</a:t>
            </a:r>
          </a:p>
          <a:p>
            <a:pPr>
              <a:buNone/>
              <a:spcBef>
                <a:spcPts val="500"/>
              </a:spcBef>
            </a:pPr>
            <a:r>
              <a:rPr lang="en-AU" sz="850" i="1" dirty="0">
                <a:solidFill>
                  <a:srgbClr val="736E68"/>
                </a:solidFill>
                <a:latin typeface="Roboto Light"/>
              </a:rPr>
              <a:t>📊 Insert: Monthly Sales vs Control Chart</a:t>
            </a:r>
          </a:p>
        </p:txBody>
      </p:sp>
      <p:sp>
        <p:nvSpPr>
          <p:cNvPr id="70" name="StoreHdr86"/>
          <p:cNvSpPr>
            <a:spLocks noGrp="1"/>
          </p:cNvSpPr>
          <p:nvPr/>
        </p:nvSpPr>
        <p:spPr>
          <a:xfrm>
            <a:off x="4293000" y="1300000"/>
            <a:ext cx="3500000" cy="250000"/>
          </a:xfrm>
          <a:prstGeom prst="rect">
            <a:avLst/>
          </a:prstGeom>
          <a:solidFill>
            <a:srgbClr val="44B5C4"/>
          </a:solidFill>
          <a:ln>
            <a:noFill/>
          </a:ln>
        </p:spPr>
        <p:txBody>
          <a:bodyPr marL="91440" marR="91440" marT="45720" marB="45720"/>
          <a:lstStyle/>
          <a:p>
            <a:r>
              <a:rPr lang="en-AU" sz="1400" b="1" dirty="0">
                <a:solidFill>
                  <a:srgbClr val="FFFFFF"/>
                </a:solidFill>
                <a:latin typeface="Roboto Medium"/>
              </a:rPr>
              <a:t>Trial Store 86</a:t>
            </a:r>
          </a:p>
        </p:txBody>
      </p:sp>
      <p:sp>
        <p:nvSpPr>
          <p:cNvPr id="71" name="StoreBody86"/>
          <p:cNvSpPr>
            <a:spLocks noGrp="1"/>
          </p:cNvSpPr>
          <p:nvPr/>
        </p:nvSpPr>
        <p:spPr>
          <a:xfrm>
            <a:off x="4293000" y="1550000"/>
            <a:ext cx="3500000" cy="4600000"/>
          </a:xfrm>
          <a:prstGeom prst="rect">
            <a:avLst/>
          </a:prstGeom>
          <a:solidFill>
            <a:srgbClr val="ECE8E4"/>
          </a:solidFill>
          <a:ln>
            <a:noFill/>
          </a:ln>
        </p:spPr>
        <p:txBody>
          <a:bodyPr marL="114300" marR="114300" marT="114300" marB="114300"/>
          <a:lstStyle/>
          <a:p>
            <a:pPr>
              <a:buNone/>
            </a:pPr>
            <a:r>
              <a:rPr lang="en-AU" sz="1000" dirty="0">
                <a:solidFill>
                  <a:srgbClr val="4A4A4E"/>
                </a:solidFill>
                <a:latin typeface="Roboto Light"/>
              </a:rPr>
              <a:t>Control Store: 159</a:t>
            </a:r>
          </a:p>
          <a:p>
            <a:pPr>
              <a:buNone/>
            </a:pPr>
            <a:r>
              <a:rPr lang="en-AU" sz="1000" dirty="0">
                <a:solidFill>
                  <a:srgbClr val="4A4A4E"/>
                </a:solidFill>
                <a:latin typeface="Roboto Light"/>
              </a:rPr>
              <a:t>p-value: 0.0001</a:t>
            </a:r>
          </a:p>
          <a:p>
            <a:pPr>
              <a:buNone/>
              <a:spcBef>
                <a:spcPts val="300"/>
              </a:spcBef>
            </a:pPr>
            <a:r>
              <a:rPr lang="en-AU" sz="1200" b="1" dirty="0">
                <a:solidFill>
                  <a:srgbClr val="44B5C4"/>
                </a:solidFill>
                <a:latin typeface="Roboto Medium"/>
              </a:rPr>
              <a:t>Significant  (PASS)</a:t>
            </a:r>
          </a:p>
          <a:p>
            <a:pPr>
              <a:buNone/>
              <a:spcBef>
                <a:spcPts val="300"/>
              </a:spcBef>
            </a:pPr>
            <a:r>
              <a:rPr lang="en-AU" sz="950" dirty="0">
                <a:solidFill>
                  <a:srgbClr val="000005"/>
                </a:solidFill>
                <a:latin typeface="Roboto Light"/>
              </a:rPr>
              <a:t>Statistically significant uplift (p &lt; 0.05). Trial strategy demonstrably increased sales performance.</a:t>
            </a:r>
          </a:p>
          <a:p>
            <a:pPr>
              <a:buNone/>
              <a:spcBef>
                <a:spcPts val="500"/>
              </a:spcBef>
            </a:pPr>
            <a:r>
              <a:rPr lang="en-AU" sz="900" b="1" dirty="0">
                <a:solidFill>
                  <a:srgbClr val="3F68AD"/>
                </a:solidFill>
                <a:latin typeface="Roboto Medium"/>
              </a:rPr>
              <a:t>Recommendation:</a:t>
            </a:r>
          </a:p>
          <a:p>
            <a:pPr>
              <a:buNone/>
            </a:pPr>
            <a:r>
              <a:rPr lang="en-AU" sz="900" dirty="0">
                <a:solidFill>
                  <a:srgbClr val="000005"/>
                </a:solidFill>
                <a:latin typeface="Roboto Light"/>
              </a:rPr>
              <a:t>Recommend expanding the Store 86 strategy to similar store profiles.</a:t>
            </a:r>
          </a:p>
          <a:p>
            <a:pPr>
              <a:buNone/>
              <a:spcBef>
                <a:spcPts val="500"/>
              </a:spcBef>
            </a:pPr>
            <a:r>
              <a:rPr lang="en-AU" sz="850" i="1" dirty="0">
                <a:solidFill>
                  <a:srgbClr val="736E68"/>
                </a:solidFill>
                <a:latin typeface="Roboto Light"/>
              </a:rPr>
              <a:t>📊 Insert: Monthly Sales vs Control Chart</a:t>
            </a:r>
          </a:p>
        </p:txBody>
      </p:sp>
      <p:sp>
        <p:nvSpPr>
          <p:cNvPr id="80" name="StoreHdr88"/>
          <p:cNvSpPr>
            <a:spLocks noGrp="1"/>
          </p:cNvSpPr>
          <p:nvPr/>
        </p:nvSpPr>
        <p:spPr>
          <a:xfrm>
            <a:off x="8039000" y="1300000"/>
            <a:ext cx="3500000" cy="250000"/>
          </a:xfrm>
          <a:prstGeom prst="rect">
            <a:avLst/>
          </a:prstGeom>
          <a:solidFill>
            <a:srgbClr val="44D6A3"/>
          </a:solidFill>
          <a:ln>
            <a:noFill/>
          </a:ln>
        </p:spPr>
        <p:txBody>
          <a:bodyPr marL="91440" marR="91440" marT="45720" marB="45720"/>
          <a:lstStyle/>
          <a:p>
            <a:r>
              <a:rPr lang="en-AU" sz="1400" b="1" dirty="0">
                <a:solidFill>
                  <a:srgbClr val="FFFFFF"/>
                </a:solidFill>
                <a:latin typeface="Roboto Medium"/>
              </a:rPr>
              <a:t>Trial Store 88</a:t>
            </a:r>
          </a:p>
        </p:txBody>
      </p:sp>
      <p:sp>
        <p:nvSpPr>
          <p:cNvPr id="81" name="StoreBody88"/>
          <p:cNvSpPr>
            <a:spLocks noGrp="1"/>
          </p:cNvSpPr>
          <p:nvPr/>
        </p:nvSpPr>
        <p:spPr>
          <a:xfrm>
            <a:off x="8039000" y="1550000"/>
            <a:ext cx="3500000" cy="4600000"/>
          </a:xfrm>
          <a:prstGeom prst="rect">
            <a:avLst/>
          </a:prstGeom>
          <a:solidFill>
            <a:srgbClr val="ECE8E4"/>
          </a:solidFill>
          <a:ln>
            <a:noFill/>
          </a:ln>
        </p:spPr>
        <p:txBody>
          <a:bodyPr marL="114300" marR="114300" marT="114300" marB="114300"/>
          <a:lstStyle/>
          <a:p>
            <a:pPr>
              <a:buNone/>
            </a:pPr>
            <a:r>
              <a:rPr lang="en-AU" sz="1000" dirty="0">
                <a:solidFill>
                  <a:srgbClr val="4A4A4E"/>
                </a:solidFill>
                <a:latin typeface="Roboto Light"/>
              </a:rPr>
              <a:t>Control Store: 159</a:t>
            </a:r>
          </a:p>
          <a:p>
            <a:pPr>
              <a:buNone/>
            </a:pPr>
            <a:r>
              <a:rPr lang="en-AU" sz="1000" dirty="0">
                <a:solidFill>
                  <a:srgbClr val="4A4A4E"/>
                </a:solidFill>
                <a:latin typeface="Roboto Light"/>
              </a:rPr>
              <a:t>p-value: &lt; 0.001</a:t>
            </a:r>
          </a:p>
          <a:p>
            <a:pPr>
              <a:buNone/>
              <a:spcBef>
                <a:spcPts val="300"/>
              </a:spcBef>
            </a:pPr>
            <a:r>
              <a:rPr lang="en-AU" sz="1200" b="1" dirty="0">
                <a:solidFill>
                  <a:srgbClr val="44D6A3"/>
                </a:solidFill>
                <a:latin typeface="Roboto Medium"/>
              </a:rPr>
              <a:t>Highly Significant  (HIGHEST)</a:t>
            </a:r>
          </a:p>
          <a:p>
            <a:pPr>
              <a:buNone/>
              <a:spcBef>
                <a:spcPts val="300"/>
              </a:spcBef>
            </a:pPr>
            <a:r>
              <a:rPr lang="en-AU" sz="950" dirty="0">
                <a:solidFill>
                  <a:srgbClr val="000005"/>
                </a:solidFill>
                <a:latin typeface="Roboto Light"/>
              </a:rPr>
              <a:t>Highly significant uplift. Store 88 delivered the strongest trial result — robust evidence for expansion.</a:t>
            </a:r>
          </a:p>
          <a:p>
            <a:pPr>
              <a:buNone/>
              <a:spcBef>
                <a:spcPts val="500"/>
              </a:spcBef>
            </a:pPr>
            <a:r>
              <a:rPr lang="en-AU" sz="900" b="1" dirty="0">
                <a:solidFill>
                  <a:srgbClr val="3F68AD"/>
                </a:solidFill>
                <a:latin typeface="Roboto Medium"/>
              </a:rPr>
              <a:t>Recommendation:</a:t>
            </a:r>
          </a:p>
          <a:p>
            <a:pPr>
              <a:buNone/>
            </a:pPr>
            <a:r>
              <a:rPr lang="en-AU" sz="900" dirty="0">
                <a:solidFill>
                  <a:srgbClr val="000005"/>
                </a:solidFill>
                <a:latin typeface="Roboto Light"/>
              </a:rPr>
              <a:t>Priority candidate for chain-wide rollout. Highest confidence in strategy effectiveness.</a:t>
            </a:r>
          </a:p>
          <a:p>
            <a:pPr>
              <a:buNone/>
              <a:spcBef>
                <a:spcPts val="500"/>
              </a:spcBef>
            </a:pPr>
            <a:r>
              <a:rPr lang="en-AU" sz="850" i="1" dirty="0">
                <a:solidFill>
                  <a:srgbClr val="736E68"/>
                </a:solidFill>
                <a:latin typeface="Roboto Light"/>
              </a:rPr>
              <a:t>📊 Insert: Monthly Sales vs Control Chart</a:t>
            </a:r>
          </a:p>
        </p:txBody>
      </p:sp>
      <p:sp>
        <p:nvSpPr>
          <p:cNvPr id="95" name="StatNote"/>
          <p:cNvSpPr>
            <a:spLocks noGrp="1"/>
          </p:cNvSpPr>
          <p:nvPr/>
        </p:nvSpPr>
        <p:spPr>
          <a:xfrm>
            <a:off x="547000" y="6100000"/>
            <a:ext cx="11100000" cy="500000"/>
          </a:xfrm>
          <a:prstGeom prst="rect">
            <a:avLst/>
          </a:prstGeom>
          <a:solidFill>
            <a:srgbClr val="3F68AD"/>
          </a:solidFill>
          <a:ln>
            <a:noFill/>
          </a:ln>
        </p:spPr>
        <p:txBody>
          <a:bodyPr marL="114300" marR="114300" marT="91440" marB="91440"/>
          <a:lstStyle/>
          <a:p>
            <a:pPr>
              <a:buNone/>
            </a:pPr>
            <a:r>
              <a:rPr lang="en-AU" sz="950" dirty="0">
                <a:solidFill>
                  <a:srgbClr val="FFFFFF"/>
                </a:solidFill>
                <a:latin typeface="Roboto Light"/>
              </a:rPr>
              <a:t>Statistical significance (p &lt; 0.05) confirms that observed uplift is unlikely due to chance — providing Julia with high-confidence evidence for investment decisions.</a:t>
            </a:r>
          </a:p>
        </p:txBody>
      </p:sp>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cTitle"/>
          <p:cNvSpPr>
            <a:spLocks noGrp="1"/>
          </p:cNvSpPr>
          <p:nvPr>
            <p:ph type="body" sz="quarter" idx="10"/>
          </p:nvPr>
        </p:nvSpPr>
        <p:spPr/>
        <p:txBody>
          <a:bodyPr/>
          <a:lstStyle/>
          <a:p>
            <a:r>
              <a:rPr lang="en-AU" dirty="0"/>
              <a:t>Conclusion &amp; Next Steps</a:t>
            </a:r>
          </a:p>
        </p:txBody>
      </p:sp>
      <p:sp>
        <p:nvSpPr>
          <p:cNvPr id="11" name="FindingsHdr"/>
          <p:cNvSpPr>
            <a:spLocks noGrp="1"/>
          </p:cNvSpPr>
          <p:nvPr/>
        </p:nvSpPr>
        <p:spPr>
          <a:xfrm>
            <a:off x="547000" y="1250000"/>
            <a:ext cx="11100000" cy="220000"/>
          </a:xfrm>
          <a:prstGeom prst="rect">
            <a:avLst/>
          </a:prstGeom>
          <a:solidFill>
            <a:srgbClr val="3F68AD"/>
          </a:solidFill>
          <a:ln>
            <a:noFill/>
          </a:ln>
        </p:spPr>
        <p:txBody>
          <a:bodyPr marL="114300" marT="50000" marB="50000"/>
          <a:lstStyle/>
          <a:p>
            <a:r>
              <a:rPr lang="en-AU" sz="1100" b="1" dirty="0">
                <a:solidFill>
                  <a:srgbClr val="FFFFFF"/>
                </a:solidFill>
                <a:latin typeface="Roboto Medium"/>
              </a:rPr>
              <a:t>Key Findings</a:t>
            </a:r>
          </a:p>
        </p:txBody>
      </p:sp>
      <p:sp>
        <p:nvSpPr>
          <p:cNvPr id="12" name="FindingsBody"/>
          <p:cNvSpPr>
            <a:spLocks noGrp="1"/>
          </p:cNvSpPr>
          <p:nvPr/>
        </p:nvSpPr>
        <p:spPr>
          <a:xfrm>
            <a:off x="547000" y="1470000"/>
            <a:ext cx="11100000" cy="1400000"/>
          </a:xfrm>
          <a:prstGeom prst="rect">
            <a:avLst/>
          </a:prstGeom>
          <a:solidFill>
            <a:srgbClr val="ECE8E4"/>
          </a:solidFill>
          <a:ln>
            <a:noFill/>
          </a:ln>
        </p:spPr>
        <p:txBody>
          <a:bodyPr marL="228600" marR="228600" marT="120000" marB="120000"/>
          <a:lstStyle/>
          <a:p>
            <a:pPr marL="228600" indent="-228600">
              <a:buChar char="•"/>
            </a:pPr>
            <a:r>
              <a:rPr lang="en-AU" sz="1100" dirty="0">
                <a:solidFill>
                  <a:srgbClr val="000005"/>
                </a:solidFill>
                <a:latin typeface="Roboto Light"/>
              </a:rPr>
              <a:t>Older Singles/Couples and Mainstream customers are the highest-value chip buyers — confirmed by transaction data.</a:t>
            </a:r>
          </a:p>
          <a:p>
            <a:pPr marL="228600" indent="-228600">
              <a:buChar char="•"/>
            </a:pPr>
            <a:r>
              <a:rPr lang="en-AU" sz="1100" dirty="0">
                <a:solidFill>
                  <a:srgbClr val="000005"/>
                </a:solidFill>
                <a:latin typeface="Roboto Light"/>
              </a:rPr>
              <a:t>Kettle leads brand sales; 175g pack is the dominant format — both should anchor Julia's ranging and promotional strategy.</a:t>
            </a:r>
          </a:p>
          <a:p>
            <a:pPr marL="228600" indent="-228600">
              <a:buChar char="•"/>
            </a:pPr>
            <a:r>
              <a:rPr lang="en-AU" sz="1100" dirty="0">
                <a:solidFill>
                  <a:srgbClr val="000005"/>
                </a:solidFill>
                <a:latin typeface="Roboto Light"/>
              </a:rPr>
              <a:t>Stores 86 and 88 demonstrate statistically significant sales uplift — providing high-confidence evidence for category investment.</a:t>
            </a:r>
          </a:p>
        </p:txBody>
      </p:sp>
      <p:sp>
        <p:nvSpPr>
          <p:cNvPr id="13" name="ImpactHdr"/>
          <p:cNvSpPr>
            <a:spLocks noGrp="1"/>
          </p:cNvSpPr>
          <p:nvPr/>
        </p:nvSpPr>
        <p:spPr>
          <a:xfrm>
            <a:off x="547000" y="2970000"/>
            <a:ext cx="11100000" cy="220000"/>
          </a:xfrm>
          <a:prstGeom prst="rect">
            <a:avLst/>
          </a:prstGeom>
          <a:solidFill>
            <a:srgbClr val="44B5C4"/>
          </a:solidFill>
          <a:ln>
            <a:noFill/>
          </a:ln>
        </p:spPr>
        <p:txBody>
          <a:bodyPr marL="114300" marT="50000" marB="50000"/>
          <a:lstStyle/>
          <a:p>
            <a:r>
              <a:rPr lang="en-AU" sz="1100" b="1" dirty="0">
                <a:solidFill>
                  <a:srgbClr val="FFFFFF"/>
                </a:solidFill>
                <a:latin typeface="Roboto Medium"/>
              </a:rPr>
              <a:t>Business Impact</a:t>
            </a:r>
          </a:p>
        </p:txBody>
      </p:sp>
      <p:sp>
        <p:nvSpPr>
          <p:cNvPr id="14" name="ImpactBody"/>
          <p:cNvSpPr>
            <a:spLocks noGrp="1"/>
          </p:cNvSpPr>
          <p:nvPr/>
        </p:nvSpPr>
        <p:spPr>
          <a:xfrm>
            <a:off x="547000" y="3190000"/>
            <a:ext cx="11100000" cy="1200000"/>
          </a:xfrm>
          <a:prstGeom prst="rect">
            <a:avLst/>
          </a:prstGeom>
          <a:solidFill>
            <a:srgbClr val="ECE8E4"/>
          </a:solidFill>
          <a:ln>
            <a:noFill/>
          </a:ln>
        </p:spPr>
        <p:txBody>
          <a:bodyPr marL="228600" marR="228600" marT="120000" marB="120000"/>
          <a:lstStyle/>
          <a:p>
            <a:pPr marL="228600" indent="-228600">
              <a:buChar char="•"/>
            </a:pPr>
            <a:r>
              <a:rPr lang="en-AU" sz="1100" dirty="0">
                <a:solidFill>
                  <a:srgbClr val="000005"/>
                </a:solidFill>
                <a:latin typeface="Roboto Light"/>
              </a:rPr>
              <a:t>Targeted segment and brand strategy can materially grow chip category revenue without requiring new SKUs or price investment.</a:t>
            </a:r>
          </a:p>
          <a:p>
            <a:pPr marL="228600" indent="-228600">
              <a:buChar char="•"/>
            </a:pPr>
            <a:r>
              <a:rPr lang="en-AU" sz="1100" dirty="0">
                <a:solidFill>
                  <a:srgbClr val="000005"/>
                </a:solidFill>
                <a:latin typeface="Roboto Light"/>
              </a:rPr>
              <a:t>Proven store trial model provides a replicable measurement framework for future category initiatives across the network.</a:t>
            </a:r>
          </a:p>
        </p:txBody>
      </p:sp>
      <p:sp>
        <p:nvSpPr>
          <p:cNvPr id="15" name="NextHdr"/>
          <p:cNvSpPr>
            <a:spLocks noGrp="1"/>
          </p:cNvSpPr>
          <p:nvPr/>
        </p:nvSpPr>
        <p:spPr>
          <a:xfrm>
            <a:off x="547000" y="4490000"/>
            <a:ext cx="11100000" cy="220000"/>
          </a:xfrm>
          <a:prstGeom prst="rect">
            <a:avLst/>
          </a:prstGeom>
          <a:solidFill>
            <a:srgbClr val="EF9B47"/>
          </a:solidFill>
          <a:ln>
            <a:noFill/>
          </a:ln>
        </p:spPr>
        <p:txBody>
          <a:bodyPr marL="114300" marT="50000" marB="50000"/>
          <a:lstStyle/>
          <a:p>
            <a:r>
              <a:rPr lang="en-AU" sz="1100" b="1" dirty="0">
                <a:solidFill>
                  <a:srgbClr val="FFFFFF"/>
                </a:solidFill>
                <a:latin typeface="Roboto Medium"/>
              </a:rPr>
              <a:t>Next Steps</a:t>
            </a:r>
          </a:p>
        </p:txBody>
      </p:sp>
      <p:sp>
        <p:nvSpPr>
          <p:cNvPr id="16" name="NextBody"/>
          <p:cNvSpPr>
            <a:spLocks noGrp="1"/>
          </p:cNvSpPr>
          <p:nvPr/>
        </p:nvSpPr>
        <p:spPr>
          <a:xfrm>
            <a:off x="547000" y="4710000"/>
            <a:ext cx="11100000" cy="1150000"/>
          </a:xfrm>
          <a:prstGeom prst="rect">
            <a:avLst/>
          </a:prstGeom>
          <a:solidFill>
            <a:srgbClr val="ECE8E4"/>
          </a:solidFill>
          <a:ln>
            <a:noFill/>
          </a:ln>
        </p:spPr>
        <p:txBody>
          <a:bodyPr marL="228600" marR="228600" marT="120000" marB="120000"/>
          <a:lstStyle/>
          <a:p>
            <a:pPr marL="228600" indent="-228600">
              <a:buChar char="•"/>
            </a:pPr>
            <a:r>
              <a:rPr lang="en-AU" sz="1100" dirty="0">
                <a:solidFill>
                  <a:srgbClr val="000005"/>
                </a:solidFill>
                <a:latin typeface="Roboto Light"/>
              </a:rPr>
              <a:t>Julia to approve 6-month promotional calendar and shelf planogram changes by end of Month 1.</a:t>
            </a:r>
          </a:p>
          <a:p>
            <a:pPr marL="228600" indent="-228600">
              <a:buChar char="•"/>
            </a:pPr>
            <a:r>
              <a:rPr lang="en-AU" sz="1100" dirty="0">
                <a:solidFill>
                  <a:srgbClr val="000005"/>
                </a:solidFill>
                <a:latin typeface="Roboto Light"/>
              </a:rPr>
              <a:t>Quantium to deliver monthly analytics dashboards tracking KPIs against category targets throughout the rollout.</a:t>
            </a:r>
          </a:p>
        </p:txBody>
      </p:sp>
      <p:sp>
        <p:nvSpPr>
          <p:cNvPr id="17" name="FinalRec"/>
          <p:cNvSpPr>
            <a:spLocks noGrp="1"/>
          </p:cNvSpPr>
          <p:nvPr/>
        </p:nvSpPr>
        <p:spPr>
          <a:xfrm>
            <a:off x="547000" y="5960000"/>
            <a:ext cx="11100000" cy="600000"/>
          </a:xfrm>
          <a:prstGeom prst="rect">
            <a:avLst/>
          </a:prstGeom>
          <a:solidFill>
            <a:srgbClr val="000005"/>
          </a:solidFill>
          <a:ln>
            <a:noFill/>
          </a:ln>
        </p:spPr>
        <p:txBody>
          <a:bodyPr marL="228600" marR="228600" marT="150000" marB="150000"/>
          <a:lstStyle/>
          <a:p>
            <a:pPr>
              <a:buNone/>
            </a:pPr>
            <a:r>
              <a:rPr lang="en-AU" sz="1100" b="1" dirty="0">
                <a:solidFill>
                  <a:srgbClr val="EF9B47"/>
                </a:solidFill>
                <a:latin typeface="Roboto Medium"/>
              </a:rPr>
              <a:t xml:space="preserve">Quantium Recommendation: </a:t>
            </a:r>
            <a:r>
              <a:rPr lang="en-AU" sz="1100" dirty="0">
                <a:solidFill>
                  <a:srgbClr val="FFFFFF"/>
                </a:solidFill>
                <a:latin typeface="Roboto Light"/>
              </a:rPr>
              <a:t>Expand the Store 86 and 88 strategy immediately — the data is clear, the evidence is robust, and the commercial opportunity is material.</a:t>
            </a:r>
          </a:p>
        </p:txBody>
      </p:sp>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Commercial Recommendations — Actions for Julia</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100" name="RecHdr100"/>
          <p:cNvSpPr>
            <a:spLocks noGrp="1"/>
          </p:cNvSpPr>
          <p:nvPr/>
        </p:nvSpPr>
        <p:spPr>
          <a:xfrm>
            <a:off x="547000" y="1200000"/>
            <a:ext cx="5350000" cy="280000"/>
          </a:xfrm>
          <a:prstGeom prst="rect">
            <a:avLst/>
          </a:prstGeom>
          <a:solidFill>
            <a:srgbClr val="3F68AD"/>
          </a:solidFill>
          <a:ln>
            <a:noFill/>
          </a:ln>
        </p:spPr>
        <p:txBody>
          <a:bodyPr marL="114300" marR="114300" marT="60000" marB="60000"/>
          <a:lstStyle/>
          <a:p>
            <a:r>
              <a:rPr lang="en-AU" sz="1300" b="1" dirty="0">
                <a:solidFill>
                  <a:srgbClr val="FFFFFF"/>
                </a:solidFill>
                <a:latin typeface="Roboto Medium"/>
              </a:rPr>
              <a:t>Customer Strategy</a:t>
            </a:r>
          </a:p>
        </p:txBody>
      </p:sp>
      <p:sp>
        <p:nvSpPr>
          <p:cNvPr id="101" name="RecBody100"/>
          <p:cNvSpPr>
            <a:spLocks noGrp="1"/>
          </p:cNvSpPr>
          <p:nvPr/>
        </p:nvSpPr>
        <p:spPr>
          <a:xfrm>
            <a:off x="547000" y="1480000"/>
            <a:ext cx="5350000" cy="5100000"/>
          </a:xfrm>
          <a:prstGeom prst="rect">
            <a:avLst/>
          </a:prstGeom>
          <a:solidFill>
            <a:srgbClr val="ECE8E4"/>
          </a:solidFill>
          <a:ln>
            <a:noFill/>
          </a:ln>
        </p:spPr>
        <p:txBody>
          <a:bodyPr marL="114300" marR="114300" marT="180000" marB="114300"/>
          <a:lstStyle/>
          <a:p>
            <a:pPr marL="228600" indent="-228600">
              <a:buChar char="•"/>
              <a:spcBef>
                <a:spcPts val="400"/>
              </a:spcBef>
            </a:pPr>
            <a:r>
              <a:rPr lang="en-AU" sz="1100" dirty="0">
                <a:solidFill>
                  <a:srgbClr val="000005"/>
                </a:solidFill>
                <a:latin typeface="Roboto Light"/>
              </a:rPr>
              <a:t>Prioritise promotional investment for Older Singles/Couples — highest-value segment.</a:t>
            </a:r>
          </a:p>
          <a:p>
            <a:pPr marL="228600" indent="-228600">
              <a:buChar char="•"/>
              <a:spcBef>
                <a:spcPts val="400"/>
              </a:spcBef>
            </a:pPr>
            <a:r>
              <a:rPr lang="en-AU" sz="1100" dirty="0">
                <a:solidFill>
                  <a:srgbClr val="000005"/>
                </a:solidFill>
                <a:latin typeface="Roboto Light"/>
              </a:rPr>
              <a:t>Sustain Mainstream customer focus: largest revenue contributor to the category.</a:t>
            </a:r>
          </a:p>
          <a:p>
            <a:pPr marL="228600" indent="-228600">
              <a:buChar char="•"/>
              <a:spcBef>
                <a:spcPts val="400"/>
              </a:spcBef>
            </a:pPr>
            <a:r>
              <a:rPr lang="en-AU" sz="1100" dirty="0">
                <a:solidFill>
                  <a:srgbClr val="000005"/>
                </a:solidFill>
                <a:latin typeface="Roboto Light"/>
              </a:rPr>
              <a:t>Increase Kettle brand visibility: premium placement, end-of-aisle positioning.</a:t>
            </a:r>
          </a:p>
          <a:p>
            <a:pPr marL="228600" indent="-228600">
              <a:buChar char="•"/>
              <a:spcBef>
                <a:spcPts val="400"/>
              </a:spcBef>
            </a:pPr>
            <a:r>
              <a:rPr lang="en-AU" sz="1100" dirty="0">
                <a:solidFill>
                  <a:srgbClr val="000005"/>
                </a:solidFill>
                <a:latin typeface="Roboto Light"/>
              </a:rPr>
              <a:t>Drive 175g and 150g pack prominence — stock depth and shelf allocation review.</a:t>
            </a:r>
          </a:p>
          <a:p>
            <a:pPr marL="228600" indent="-228600">
              <a:buChar char="•"/>
              <a:spcBef>
                <a:spcPts val="400"/>
              </a:spcBef>
            </a:pPr>
            <a:r>
              <a:rPr lang="en-AU" sz="1100" dirty="0">
                <a:solidFill>
                  <a:srgbClr val="000005"/>
                </a:solidFill>
                <a:latin typeface="Roboto Light"/>
              </a:rPr>
              <a:t>Pilot targeted digital promotions for Young Singles/Couples (emerging cohort).</a:t>
            </a:r>
          </a:p>
        </p:txBody>
      </p:sp>
      <p:sp>
        <p:nvSpPr>
          <p:cNvPr id="110" name="RecHdr110"/>
          <p:cNvSpPr>
            <a:spLocks noGrp="1"/>
          </p:cNvSpPr>
          <p:nvPr/>
        </p:nvSpPr>
        <p:spPr>
          <a:xfrm>
            <a:off x="6097000" y="1200000"/>
            <a:ext cx="5550000" cy="280000"/>
          </a:xfrm>
          <a:prstGeom prst="rect">
            <a:avLst/>
          </a:prstGeom>
          <a:solidFill>
            <a:srgbClr val="44B5C4"/>
          </a:solidFill>
          <a:ln>
            <a:noFill/>
          </a:ln>
        </p:spPr>
        <p:txBody>
          <a:bodyPr marL="114300" marR="114300" marT="60000" marB="60000"/>
          <a:lstStyle/>
          <a:p>
            <a:r>
              <a:rPr lang="en-AU" sz="1300" b="1" dirty="0">
                <a:solidFill>
                  <a:srgbClr val="FFFFFF"/>
                </a:solidFill>
                <a:latin typeface="Roboto Medium"/>
              </a:rPr>
              <a:t>Store Expansion Strategy</a:t>
            </a:r>
          </a:p>
        </p:txBody>
      </p:sp>
      <p:sp>
        <p:nvSpPr>
          <p:cNvPr id="111" name="RecBody110"/>
          <p:cNvSpPr>
            <a:spLocks noGrp="1"/>
          </p:cNvSpPr>
          <p:nvPr/>
        </p:nvSpPr>
        <p:spPr>
          <a:xfrm>
            <a:off x="6097000" y="1480000"/>
            <a:ext cx="5550000" cy="5100000"/>
          </a:xfrm>
          <a:prstGeom prst="rect">
            <a:avLst/>
          </a:prstGeom>
          <a:solidFill>
            <a:srgbClr val="ECE8E4"/>
          </a:solidFill>
          <a:ln>
            <a:noFill/>
          </a:ln>
        </p:spPr>
        <p:txBody>
          <a:bodyPr marL="114300" marR="114300" marT="180000" marB="114300"/>
          <a:lstStyle/>
          <a:p>
            <a:pPr marL="228600" indent="-228600">
              <a:buChar char="•"/>
              <a:spcBef>
                <a:spcPts val="400"/>
              </a:spcBef>
            </a:pPr>
            <a:r>
              <a:rPr lang="en-AU" sz="1100" dirty="0">
                <a:solidFill>
                  <a:srgbClr val="000005"/>
                </a:solidFill>
                <a:latin typeface="Roboto Light"/>
              </a:rPr>
              <a:t>Roll out Store 86 layout and ranging strategy to 10 comparable store formats.</a:t>
            </a:r>
          </a:p>
          <a:p>
            <a:pPr marL="228600" indent="-228600">
              <a:buChar char="•"/>
              <a:spcBef>
                <a:spcPts val="400"/>
              </a:spcBef>
            </a:pPr>
            <a:r>
              <a:rPr lang="en-AU" sz="1100" dirty="0">
                <a:solidFill>
                  <a:srgbClr val="000005"/>
                </a:solidFill>
                <a:latin typeface="Roboto Light"/>
              </a:rPr>
              <a:t>Prioritise Store 88 approach — highest statistical confidence, strongest uplift.</a:t>
            </a:r>
          </a:p>
          <a:p>
            <a:pPr marL="228600" indent="-228600">
              <a:buChar char="•"/>
              <a:spcBef>
                <a:spcPts val="400"/>
              </a:spcBef>
            </a:pPr>
            <a:r>
              <a:rPr lang="en-AU" sz="1100" dirty="0">
                <a:solidFill>
                  <a:srgbClr val="000005"/>
                </a:solidFill>
                <a:latin typeface="Roboto Light"/>
              </a:rPr>
              <a:t>Monitor Store 77 for 3 additional months before committing to expansion.</a:t>
            </a:r>
          </a:p>
          <a:p>
            <a:pPr marL="228600" indent="-228600">
              <a:buChar char="•"/>
              <a:spcBef>
                <a:spcPts val="400"/>
              </a:spcBef>
            </a:pPr>
            <a:r>
              <a:rPr lang="en-AU" sz="1100" dirty="0">
                <a:solidFill>
                  <a:srgbClr val="000005"/>
                </a:solidFill>
                <a:latin typeface="Roboto Light"/>
              </a:rPr>
              <a:t>Establish control-vs-trial measurement framework for all future store initiatives.</a:t>
            </a:r>
          </a:p>
          <a:p>
            <a:pPr marL="228600" indent="-228600">
              <a:buChar char="•"/>
              <a:spcBef>
                <a:spcPts val="400"/>
              </a:spcBef>
            </a:pPr>
            <a:r>
              <a:rPr lang="en-AU" sz="1100" dirty="0">
                <a:solidFill>
                  <a:srgbClr val="000005"/>
                </a:solidFill>
                <a:latin typeface="Roboto Light"/>
              </a:rPr>
              <a:t>Review trial store sales mix to identify the specific levers driving uplift.</a:t>
            </a:r>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AU" dirty="0"/>
              <a:t>Implementation Roadmap — 6-Month Action Plan</a:t>
            </a:r>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sp>
        <p:nvSpPr>
          <p:cNvPr id="120" name="PhaseHdr120"/>
          <p:cNvSpPr>
            <a:spLocks noGrp="1"/>
          </p:cNvSpPr>
          <p:nvPr/>
        </p:nvSpPr>
        <p:spPr>
          <a:xfrm>
            <a:off x="400000" y="1200000"/>
            <a:ext cx="3600000" cy="380000"/>
          </a:xfrm>
          <a:prstGeom prst="rect">
            <a:avLst/>
          </a:prstGeom>
          <a:solidFill>
            <a:srgbClr val="3F68AD"/>
          </a:solidFill>
          <a:ln>
            <a:noFill/>
          </a:ln>
        </p:spPr>
        <p:txBody>
          <a:bodyPr marL="114300" marR="114300" marT="60000" marB="60000"/>
          <a:lstStyle/>
          <a:p>
            <a:r>
              <a:rPr lang="en-AU" sz="1300" b="1" dirty="0">
                <a:solidFill>
                  <a:srgbClr val="FFFFFF"/>
                </a:solidFill>
                <a:latin typeface="Roboto Medium"/>
              </a:rPr>
              <a:t>Month 1–2</a:t>
            </a:r>
          </a:p>
          <a:p>
            <a:r>
              <a:rPr lang="en-AU" sz="1050" dirty="0">
                <a:solidFill>
                  <a:srgbClr val="FFFFFF"/>
                </a:solidFill>
                <a:latin typeface="Roboto Light"/>
              </a:rPr>
              <a:t>Foundation &amp; Setup</a:t>
            </a:r>
          </a:p>
        </p:txBody>
      </p:sp>
      <p:sp>
        <p:nvSpPr>
          <p:cNvPr id="121" name="PhaseBody120"/>
          <p:cNvSpPr>
            <a:spLocks noGrp="1"/>
          </p:cNvSpPr>
          <p:nvPr/>
        </p:nvSpPr>
        <p:spPr>
          <a:xfrm>
            <a:off x="400000" y="1580000"/>
            <a:ext cx="3600000" cy="3900000"/>
          </a:xfrm>
          <a:prstGeom prst="rect">
            <a:avLst/>
          </a:prstGeom>
          <a:solidFill>
            <a:srgbClr val="ECE8E4"/>
          </a:solidFill>
          <a:ln>
            <a:noFill/>
          </a:ln>
        </p:spPr>
        <p:txBody>
          <a:bodyPr marL="114300" marR="114300" marT="180000" marB="114300"/>
          <a:lstStyle/>
          <a:p>
            <a:pPr marL="228600" indent="-228600">
              <a:buChar char="•"/>
              <a:spcBef>
                <a:spcPts val="350"/>
              </a:spcBef>
            </a:pPr>
            <a:r>
              <a:rPr lang="en-AU" sz="1050" dirty="0">
                <a:solidFill>
                  <a:srgbClr val="000005"/>
                </a:solidFill>
                <a:latin typeface="Roboto Light"/>
              </a:rPr>
              <a:t>Align Julia and category team on chip strategy priorities.</a:t>
            </a:r>
          </a:p>
          <a:p>
            <a:pPr marL="228600" indent="-228600">
              <a:buChar char="•"/>
              <a:spcBef>
                <a:spcPts val="350"/>
              </a:spcBef>
            </a:pPr>
            <a:r>
              <a:rPr lang="en-AU" sz="1050" dirty="0">
                <a:solidFill>
                  <a:srgbClr val="000005"/>
                </a:solidFill>
                <a:latin typeface="Roboto Light"/>
              </a:rPr>
              <a:t>Finalise planogram updates to prioritise 175g and 150g Kettle.</a:t>
            </a:r>
          </a:p>
          <a:p>
            <a:pPr marL="228600" indent="-228600">
              <a:buChar char="•"/>
              <a:spcBef>
                <a:spcPts val="350"/>
              </a:spcBef>
            </a:pPr>
            <a:r>
              <a:rPr lang="en-AU" sz="1050" dirty="0">
                <a:solidFill>
                  <a:srgbClr val="000005"/>
                </a:solidFill>
                <a:latin typeface="Roboto Light"/>
              </a:rPr>
              <a:t>Design promotional calendar targeting Mainstream Older Singles/Couples.</a:t>
            </a:r>
          </a:p>
          <a:p>
            <a:pPr marL="228600" indent="-228600">
              <a:buChar char="•"/>
              <a:spcBef>
                <a:spcPts val="350"/>
              </a:spcBef>
            </a:pPr>
            <a:r>
              <a:rPr lang="en-AU" sz="1050" dirty="0">
                <a:solidFill>
                  <a:srgbClr val="000005"/>
                </a:solidFill>
                <a:latin typeface="Roboto Light"/>
              </a:rPr>
              <a:t>Identify 10 stores for Phase 2 trial expansion (profiled to Stores 86/88).</a:t>
            </a:r>
          </a:p>
        </p:txBody>
      </p:sp>
      <p:sp>
        <p:nvSpPr>
          <p:cNvPr id="122" name="PhaseKPI120"/>
          <p:cNvSpPr>
            <a:spLocks noGrp="1"/>
          </p:cNvSpPr>
          <p:nvPr/>
        </p:nvSpPr>
        <p:spPr>
          <a:xfrm>
            <a:off x="400000" y="5480000"/>
            <a:ext cx="3600000" cy="1050000"/>
          </a:xfrm>
          <a:prstGeom prst="rect">
            <a:avLst/>
          </a:prstGeom>
          <a:solidFill>
            <a:srgbClr val="000005"/>
          </a:solidFill>
          <a:ln>
            <a:noFill/>
          </a:ln>
        </p:spPr>
        <p:txBody>
          <a:bodyPr marL="114300" marR="114300" marT="120000" marB="114300"/>
          <a:lstStyle/>
          <a:p>
            <a:pPr>
              <a:buNone/>
            </a:pPr>
            <a:r>
              <a:rPr lang="en-AU" sz="900" dirty="0">
                <a:solidFill>
                  <a:srgbClr val="3F68AD"/>
                </a:solidFill>
                <a:latin typeface="Roboto Light"/>
              </a:rPr>
              <a:t>KPIs: Shelf compliance rate | Promo plan signed off | Store selection finalised</a:t>
            </a:r>
          </a:p>
        </p:txBody>
      </p:sp>
      <p:sp>
        <p:nvSpPr>
          <p:cNvPr id="130" name="PhaseHdr130"/>
          <p:cNvSpPr>
            <a:spLocks noGrp="1"/>
          </p:cNvSpPr>
          <p:nvPr/>
        </p:nvSpPr>
        <p:spPr>
          <a:xfrm>
            <a:off x="4200000" y="1200000"/>
            <a:ext cx="3600000" cy="380000"/>
          </a:xfrm>
          <a:prstGeom prst="rect">
            <a:avLst/>
          </a:prstGeom>
          <a:solidFill>
            <a:srgbClr val="44B5C4"/>
          </a:solidFill>
          <a:ln>
            <a:noFill/>
          </a:ln>
        </p:spPr>
        <p:txBody>
          <a:bodyPr marL="114300" marR="114300" marT="60000" marB="60000"/>
          <a:lstStyle/>
          <a:p>
            <a:r>
              <a:rPr lang="en-AU" sz="1300" b="1" dirty="0">
                <a:solidFill>
                  <a:srgbClr val="FFFFFF"/>
                </a:solidFill>
                <a:latin typeface="Roboto Medium"/>
              </a:rPr>
              <a:t>Month 3–4</a:t>
            </a:r>
          </a:p>
          <a:p>
            <a:r>
              <a:rPr lang="en-AU" sz="1050" dirty="0">
                <a:solidFill>
                  <a:srgbClr val="FFFFFF"/>
                </a:solidFill>
                <a:latin typeface="Roboto Light"/>
              </a:rPr>
              <a:t>Execution &amp; Expansion</a:t>
            </a:r>
          </a:p>
        </p:txBody>
      </p:sp>
      <p:sp>
        <p:nvSpPr>
          <p:cNvPr id="131" name="PhaseBody130"/>
          <p:cNvSpPr>
            <a:spLocks noGrp="1"/>
          </p:cNvSpPr>
          <p:nvPr/>
        </p:nvSpPr>
        <p:spPr>
          <a:xfrm>
            <a:off x="4200000" y="1580000"/>
            <a:ext cx="3600000" cy="3900000"/>
          </a:xfrm>
          <a:prstGeom prst="rect">
            <a:avLst/>
          </a:prstGeom>
          <a:solidFill>
            <a:srgbClr val="ECE8E4"/>
          </a:solidFill>
          <a:ln>
            <a:noFill/>
          </a:ln>
        </p:spPr>
        <p:txBody>
          <a:bodyPr marL="114300" marR="114300" marT="180000" marB="114300"/>
          <a:lstStyle/>
          <a:p>
            <a:pPr marL="228600" indent="-228600">
              <a:buChar char="•"/>
              <a:spcBef>
                <a:spcPts val="350"/>
              </a:spcBef>
            </a:pPr>
            <a:r>
              <a:rPr lang="en-AU" sz="1050" dirty="0">
                <a:solidFill>
                  <a:srgbClr val="000005"/>
                </a:solidFill>
                <a:latin typeface="Roboto Light"/>
              </a:rPr>
              <a:t>Launch targeted Kettle promotions across Mainstream Older Singles/Couples.</a:t>
            </a:r>
          </a:p>
          <a:p>
            <a:pPr marL="228600" indent="-228600">
              <a:buChar char="•"/>
              <a:spcBef>
                <a:spcPts val="350"/>
              </a:spcBef>
            </a:pPr>
            <a:r>
              <a:rPr lang="en-AU" sz="1050" dirty="0">
                <a:solidFill>
                  <a:srgbClr val="000005"/>
                </a:solidFill>
                <a:latin typeface="Roboto Light"/>
              </a:rPr>
              <a:t>Implement Store 86/88 layout strategy in 10 selected expansion stores.</a:t>
            </a:r>
          </a:p>
          <a:p>
            <a:pPr marL="228600" indent="-228600">
              <a:buChar char="•"/>
              <a:spcBef>
                <a:spcPts val="350"/>
              </a:spcBef>
            </a:pPr>
            <a:r>
              <a:rPr lang="en-AU" sz="1050" dirty="0">
                <a:solidFill>
                  <a:srgbClr val="000005"/>
                </a:solidFill>
                <a:latin typeface="Roboto Light"/>
              </a:rPr>
              <a:t>Begin monthly performance tracking vs. matched control stores.</a:t>
            </a:r>
          </a:p>
          <a:p>
            <a:pPr marL="228600" indent="-228600">
              <a:buChar char="•"/>
              <a:spcBef>
                <a:spcPts val="350"/>
              </a:spcBef>
            </a:pPr>
            <a:r>
              <a:rPr lang="en-AU" sz="1050" dirty="0">
                <a:solidFill>
                  <a:srgbClr val="000005"/>
                </a:solidFill>
                <a:latin typeface="Roboto Light"/>
              </a:rPr>
              <a:t>Run brand affinity research with Younger Singles/Couples cohort.</a:t>
            </a:r>
          </a:p>
        </p:txBody>
      </p:sp>
      <p:sp>
        <p:nvSpPr>
          <p:cNvPr id="132" name="PhaseKPI130"/>
          <p:cNvSpPr>
            <a:spLocks noGrp="1"/>
          </p:cNvSpPr>
          <p:nvPr/>
        </p:nvSpPr>
        <p:spPr>
          <a:xfrm>
            <a:off x="4200000" y="5480000"/>
            <a:ext cx="3600000" cy="1050000"/>
          </a:xfrm>
          <a:prstGeom prst="rect">
            <a:avLst/>
          </a:prstGeom>
          <a:solidFill>
            <a:srgbClr val="000005"/>
          </a:solidFill>
          <a:ln>
            <a:noFill/>
          </a:ln>
        </p:spPr>
        <p:txBody>
          <a:bodyPr marL="114300" marR="114300" marT="120000" marB="114300"/>
          <a:lstStyle/>
          <a:p>
            <a:pPr>
              <a:buNone/>
            </a:pPr>
            <a:r>
              <a:rPr lang="en-AU" sz="900" dirty="0">
                <a:solidFill>
                  <a:srgbClr val="44B5C4"/>
                </a:solidFill>
                <a:latin typeface="Roboto Light"/>
              </a:rPr>
              <a:t>KPIs: Promo uplift % | Trial store sales growth vs control | NPS score</a:t>
            </a:r>
          </a:p>
        </p:txBody>
      </p:sp>
      <p:sp>
        <p:nvSpPr>
          <p:cNvPr id="140" name="PhaseHdr140"/>
          <p:cNvSpPr>
            <a:spLocks noGrp="1"/>
          </p:cNvSpPr>
          <p:nvPr/>
        </p:nvSpPr>
        <p:spPr>
          <a:xfrm>
            <a:off x="8000000" y="1200000"/>
            <a:ext cx="3750000" cy="380000"/>
          </a:xfrm>
          <a:prstGeom prst="rect">
            <a:avLst/>
          </a:prstGeom>
          <a:solidFill>
            <a:srgbClr val="EF9B47"/>
          </a:solidFill>
          <a:ln>
            <a:noFill/>
          </a:ln>
        </p:spPr>
        <p:txBody>
          <a:bodyPr marL="114300" marR="114300" marT="60000" marB="60000"/>
          <a:lstStyle/>
          <a:p>
            <a:r>
              <a:rPr lang="en-AU" sz="1300" b="1" dirty="0">
                <a:solidFill>
                  <a:srgbClr val="FFFFFF"/>
                </a:solidFill>
                <a:latin typeface="Roboto Medium"/>
              </a:rPr>
              <a:t>Month 5–6</a:t>
            </a:r>
          </a:p>
          <a:p>
            <a:r>
              <a:rPr lang="en-AU" sz="1050" dirty="0">
                <a:solidFill>
                  <a:srgbClr val="FFFFFF"/>
                </a:solidFill>
                <a:latin typeface="Roboto Light"/>
              </a:rPr>
              <a:t>Evaluate &amp; Scale</a:t>
            </a:r>
          </a:p>
        </p:txBody>
      </p:sp>
      <p:sp>
        <p:nvSpPr>
          <p:cNvPr id="141" name="PhaseBody140"/>
          <p:cNvSpPr>
            <a:spLocks noGrp="1"/>
          </p:cNvSpPr>
          <p:nvPr/>
        </p:nvSpPr>
        <p:spPr>
          <a:xfrm>
            <a:off x="8000000" y="1580000"/>
            <a:ext cx="3750000" cy="3900000"/>
          </a:xfrm>
          <a:prstGeom prst="rect">
            <a:avLst/>
          </a:prstGeom>
          <a:solidFill>
            <a:srgbClr val="ECE8E4"/>
          </a:solidFill>
          <a:ln>
            <a:noFill/>
          </a:ln>
        </p:spPr>
        <p:txBody>
          <a:bodyPr marL="114300" marR="114300" marT="180000" marB="114300"/>
          <a:lstStyle/>
          <a:p>
            <a:pPr marL="228600" indent="-228600">
              <a:buChar char="•"/>
              <a:spcBef>
                <a:spcPts val="350"/>
              </a:spcBef>
            </a:pPr>
            <a:r>
              <a:rPr lang="en-AU" sz="1050" dirty="0">
                <a:solidFill>
                  <a:srgbClr val="000005"/>
                </a:solidFill>
                <a:latin typeface="Roboto Light"/>
              </a:rPr>
              <a:t>Evaluate trial store expansion results; assess statistical significance.</a:t>
            </a:r>
          </a:p>
          <a:p>
            <a:pPr marL="228600" indent="-228600">
              <a:buChar char="•"/>
              <a:spcBef>
                <a:spcPts val="350"/>
              </a:spcBef>
            </a:pPr>
            <a:r>
              <a:rPr lang="en-AU" sz="1050" dirty="0">
                <a:solidFill>
                  <a:srgbClr val="000005"/>
                </a:solidFill>
                <a:latin typeface="Roboto Light"/>
              </a:rPr>
              <a:t>Report outcomes to leadership; present ROI of chip category investment.</a:t>
            </a:r>
          </a:p>
          <a:p>
            <a:pPr marL="228600" indent="-228600">
              <a:buChar char="•"/>
              <a:spcBef>
                <a:spcPts val="350"/>
              </a:spcBef>
            </a:pPr>
            <a:r>
              <a:rPr lang="en-AU" sz="1050" dirty="0">
                <a:solidFill>
                  <a:srgbClr val="000005"/>
                </a:solidFill>
                <a:latin typeface="Roboto Light"/>
              </a:rPr>
              <a:t>Decide full rollout vs. further refinement based on p-value evidence.</a:t>
            </a:r>
          </a:p>
          <a:p>
            <a:pPr marL="228600" indent="-228600">
              <a:buChar char="•"/>
              <a:spcBef>
                <a:spcPts val="350"/>
              </a:spcBef>
            </a:pPr>
            <a:r>
              <a:rPr lang="en-AU" sz="1050" dirty="0">
                <a:solidFill>
                  <a:srgbClr val="000005"/>
                </a:solidFill>
                <a:latin typeface="Roboto Light"/>
              </a:rPr>
              <a:t>Re-assess Store 77 strategy and test alternative store execution approach.</a:t>
            </a:r>
          </a:p>
        </p:txBody>
      </p:sp>
      <p:sp>
        <p:nvSpPr>
          <p:cNvPr id="142" name="PhaseKPI140"/>
          <p:cNvSpPr>
            <a:spLocks noGrp="1"/>
          </p:cNvSpPr>
          <p:nvPr/>
        </p:nvSpPr>
        <p:spPr>
          <a:xfrm>
            <a:off x="8000000" y="5480000"/>
            <a:ext cx="3750000" cy="1050000"/>
          </a:xfrm>
          <a:prstGeom prst="rect">
            <a:avLst/>
          </a:prstGeom>
          <a:solidFill>
            <a:srgbClr val="000005"/>
          </a:solidFill>
          <a:ln>
            <a:noFill/>
          </a:ln>
        </p:spPr>
        <p:txBody>
          <a:bodyPr marL="114300" marR="114300" marT="120000" marB="114300"/>
          <a:lstStyle/>
          <a:p>
            <a:pPr>
              <a:buNone/>
            </a:pPr>
            <a:r>
              <a:rPr lang="en-AU" sz="900" dirty="0">
                <a:solidFill>
                  <a:srgbClr val="EF9B47"/>
                </a:solidFill>
                <a:latin typeface="Roboto Light"/>
              </a:rPr>
              <a:t>KPIs: Revenue lift vs. benchmark | Stock turn rate | Rollout decision gate</a:t>
            </a:r>
          </a:p>
        </p:txBody>
      </p:sp>
      <p:sp>
        <p:nvSpPr>
          <p:cNvPr id="3750000" name="Arrow3750000"/>
          <p:cNvSpPr>
            <a:spLocks noGrp="1"/>
          </p:cNvSpPr>
          <p:nvPr/>
        </p:nvSpPr>
        <p:spPr>
          <a:xfrm>
            <a:off x="3600000" y="1360000"/>
            <a:ext cx="310000" cy="180000"/>
          </a:xfrm>
          <a:prstGeom prst="rightArrow">
            <a:avLst/>
          </a:prstGeom>
          <a:solidFill>
            <a:srgbClr val="C7C5C4"/>
          </a:solidFill>
          <a:ln>
            <a:noFill/>
          </a:ln>
        </p:spPr>
        <p:txBody>
          <a:bodyPr/>
          <a:lstStyle/>
          <a:p/>
        </p:txBody>
      </p:sp>
      <p:sp>
        <p:nvSpPr>
          <p:cNvPr id="7550000" name="Arrow7550000"/>
          <p:cNvSpPr>
            <a:spLocks noGrp="1"/>
          </p:cNvSpPr>
          <p:nvPr/>
        </p:nvSpPr>
        <p:spPr>
          <a:xfrm>
            <a:off x="7400000" y="1360000"/>
            <a:ext cx="310000" cy="180000"/>
          </a:xfrm>
          <a:prstGeom prst="rightArrow">
            <a:avLst/>
          </a:prstGeom>
          <a:solidFill>
            <a:srgbClr val="C7C5C4"/>
          </a:solidFill>
          <a:ln>
            <a:noFill/>
          </a:ln>
        </p:spPr>
        <p:txBody>
          <a:bodyPr/>
          <a:lstStyle/>
          <a:p/>
        </p:txBody>
      </p:sp>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6328</TotalTime>
  <Words>372</Words>
  <Application>Microsoft Office PowerPoint</Application>
  <PresentationFormat>Widescreen</PresentationFormat>
  <Paragraphs>36</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Light</vt:lpstr>
      <vt:lpstr>Calibri</vt:lpstr>
      <vt:lpstr>Roboto Medium</vt:lpstr>
      <vt:lpstr>Arial</vt:lpstr>
      <vt:lpstr>Roboto</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Sarah D'oliveiro</cp:lastModifiedBy>
  <cp:revision>464</cp:revision>
  <dcterms:created xsi:type="dcterms:W3CDTF">2018-02-07T23:23:24Z</dcterms:created>
  <dcterms:modified xsi:type="dcterms:W3CDTF">2020-06-11T00:39:24Z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